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3" r:id="rId4"/>
    <p:sldId id="265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F617BC8-3F1F-4ACE-A6C7-58AAB33B1E77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毕业设计项目总结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B4D0D-8ED9-44A4-B006-A32678E0623C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7429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6000"/>
              </a:lnSpc>
              <a:buNone/>
              <a:defRPr sz="4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葡萄膜炎 FA 泄漏区域分割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5446E5-4A78-4CDA-9170-D2F6F0B969E9}"/>
              </a:ext>
            </a:extLst>
          </p:cNvPr>
          <p:cNvSpPr>
            <a:spLocks noGrp="1"/>
          </p:cNvSpPr>
          <p:nvPr/>
        </p:nvSpPr>
        <p:spPr>
          <a:xfrm>
            <a:off x="438150" y="2724150"/>
            <a:ext cx="704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4000"/>
              </a:lnSpc>
              <a:buNone/>
              <a:defRPr sz="19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从论文 U-Net 复现到 DINOv3 预训练 backbone 的系统化实验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510E00-49E1-46BD-9471-13F3B34AD13B}"/>
              </a:ext>
            </a:extLst>
          </p:cNvPr>
          <p:cNvSpPr>
            <a:spLocks noGrp="1"/>
          </p:cNvSpPr>
          <p:nvPr/>
        </p:nvSpPr>
        <p:spPr>
          <a:xfrm>
            <a:off x="7905750" y="628650"/>
            <a:ext cx="3429000" cy="49530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9EDDA5-ADD0-4119-A020-0D6351E7A9B2}"/>
              </a:ext>
            </a:extLst>
          </p:cNvPr>
          <p:cNvSpPr>
            <a:spLocks noGrp="1"/>
          </p:cNvSpPr>
          <p:nvPr/>
        </p:nvSpPr>
        <p:spPr>
          <a:xfrm>
            <a:off x="8324850" y="102870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FA image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0F20B8-10F5-46AF-A96A-6C9453AED02B}"/>
              </a:ext>
            </a:extLst>
          </p:cNvPr>
          <p:cNvSpPr>
            <a:spLocks noGrp="1"/>
          </p:cNvSpPr>
          <p:nvPr/>
        </p:nvSpPr>
        <p:spPr>
          <a:xfrm>
            <a:off x="8324850" y="1562100"/>
            <a:ext cx="2381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RGB / NIfTI mask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ITK-SNAP palette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5-fold split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8CF49596-0C36-48F1-A46C-2B7F6077D863}"/>
              </a:ext>
            </a:extLst>
          </p:cNvPr>
          <p:cNvSpPr>
            <a:spLocks noGrp="1"/>
          </p:cNvSpPr>
          <p:nvPr/>
        </p:nvSpPr>
        <p:spPr>
          <a:xfrm>
            <a:off x="9182100" y="2762250"/>
            <a:ext cx="742950" cy="266700"/>
          </a:xfrm>
          <a:prstGeom prst="rightArrow">
            <a:avLst/>
          </a:prstGeom>
          <a:solidFill>
            <a:srgbClr val="EDEDED"/>
          </a:solidFill>
          <a:ln w="0">
            <a:solidFill>
              <a:srgbClr val="EDEDE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05A90B-C77A-40FE-923B-22AAA270A28F}"/>
              </a:ext>
            </a:extLst>
          </p:cNvPr>
          <p:cNvSpPr>
            <a:spLocks noGrp="1"/>
          </p:cNvSpPr>
          <p:nvPr/>
        </p:nvSpPr>
        <p:spPr>
          <a:xfrm>
            <a:off x="8324850" y="3390900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530"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2-channel lesion masks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CF907F-AE34-4E68-85C6-9192A467AEB7}"/>
              </a:ext>
            </a:extLst>
          </p:cNvPr>
          <p:cNvSpPr>
            <a:spLocks noGrp="1"/>
          </p:cNvSpPr>
          <p:nvPr/>
        </p:nvSpPr>
        <p:spPr>
          <a:xfrm>
            <a:off x="8324850" y="3924300"/>
            <a:ext cx="2533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lesion_1 = label 1 or 3</a:t>
            </a:r>
          </a:p>
          <a:p>
            <a:pPr algn="l">
              <a:lnSpc>
                <a:spcPct val="120000"/>
              </a:lnSpc>
              <a:buNone/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lesion_2 = label 2 or 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FCF30E-2BF8-441F-A5B9-A4095E442A4D}"/>
              </a:ext>
            </a:extLst>
          </p:cNvPr>
          <p:cNvSpPr>
            <a:spLocks noGrp="1"/>
          </p:cNvSpPr>
          <p:nvPr/>
        </p:nvSpPr>
        <p:spPr>
          <a:xfrm>
            <a:off x="438150" y="59626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Code sources: src/bs, scripts, configs, EXPERIMENT_LOG.md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808944-12BA-4069-97F2-DFE5C43EFBDB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Repository summary deck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559463-01BA-45F2-83A9-02374832B53E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218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53E5E10-9818-4B5E-BCC7-A49070C8AA7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Models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FB504B-3F6C-418F-AD7E-4AFFA6D9B0B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81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6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模型设计从可复现到强迁移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0AC786-B26F-4C10-B533-66580CBD049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6235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74CC46-0C4E-4AE1-85BF-743D60660EB7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71450" cy="1714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02BA9C-2473-46E7-8748-3AC5E1827B55}"/>
              </a:ext>
            </a:extLst>
          </p:cNvPr>
          <p:cNvSpPr>
            <a:spLocks noGrp="1"/>
          </p:cNvSpPr>
          <p:nvPr/>
        </p:nvSpPr>
        <p:spPr>
          <a:xfrm>
            <a:off x="933450" y="20002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PaperUNet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25C0FB-8AC4-45E4-9F09-471FBDA22E28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028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从零训练的标准 U-Net，512×512，SGD，作为论文叙事中的可解释基线。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D3F5D2-AD82-45F1-938A-7DD07CDFC23A}"/>
              </a:ext>
            </a:extLst>
          </p:cNvPr>
          <p:cNvSpPr>
            <a:spLocks noGrp="1"/>
          </p:cNvSpPr>
          <p:nvPr/>
        </p:nvSpPr>
        <p:spPr>
          <a:xfrm>
            <a:off x="4324350" y="1809750"/>
            <a:ext cx="3562350" cy="18097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862999-FB29-4043-ABB3-DA6DF8241C92}"/>
              </a:ext>
            </a:extLst>
          </p:cNvPr>
          <p:cNvSpPr>
            <a:spLocks noGrp="1"/>
          </p:cNvSpPr>
          <p:nvPr/>
        </p:nvSpPr>
        <p:spPr>
          <a:xfrm>
            <a:off x="4552950" y="2038350"/>
            <a:ext cx="171450" cy="1714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0A4600-A7B2-4A6C-8D31-0BB4211E45DA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DINOv3 ViT-B/16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35BD1E-E7D9-43AD-83F0-C596B40DC63C}"/>
              </a:ext>
            </a:extLst>
          </p:cNvPr>
          <p:cNvSpPr>
            <a:spLocks noGrp="1"/>
          </p:cNvSpPr>
          <p:nvPr/>
        </p:nvSpPr>
        <p:spPr>
          <a:xfrm>
            <a:off x="4591050" y="2552700"/>
            <a:ext cx="3028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取 transformer blocks [2,5,8,11]，TokenFPNHead 拼接融合后输出两病灶通道。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6AC9B3-129A-4872-BAB1-57B7CC2F212B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562350" cy="18097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E874AF-52A4-48F2-B9EB-22E779733A13}"/>
              </a:ext>
            </a:extLst>
          </p:cNvPr>
          <p:cNvSpPr>
            <a:spLocks noGrp="1"/>
          </p:cNvSpPr>
          <p:nvPr/>
        </p:nvSpPr>
        <p:spPr>
          <a:xfrm>
            <a:off x="8477250" y="2038350"/>
            <a:ext cx="171450" cy="17145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3F9BE4-B90F-4C35-B23E-E2AE48FA271F}"/>
              </a:ext>
            </a:extLst>
          </p:cNvPr>
          <p:cNvSpPr>
            <a:spLocks noGrp="1"/>
          </p:cNvSpPr>
          <p:nvPr/>
        </p:nvSpPr>
        <p:spPr>
          <a:xfrm>
            <a:off x="8782050" y="20002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DINOv3 ConvNeXt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E69169-1608-4C0E-B20C-CF5272DDF9A6}"/>
              </a:ext>
            </a:extLst>
          </p:cNvPr>
          <p:cNvSpPr>
            <a:spLocks noGrp="1"/>
          </p:cNvSpPr>
          <p:nvPr/>
        </p:nvSpPr>
        <p:spPr>
          <a:xfrm>
            <a:off x="8515350" y="2552700"/>
            <a:ext cx="3028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天然 4 stage 多尺度特征，ConvNeXtFPNDecoder 做 top-down 融合，显存更友好。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D27C18-6483-4006-AA7D-EF727BE072F6}"/>
              </a:ext>
            </a:extLst>
          </p:cNvPr>
          <p:cNvSpPr>
            <a:spLocks noGrp="1"/>
          </p:cNvSpPr>
          <p:nvPr/>
        </p:nvSpPr>
        <p:spPr>
          <a:xfrm>
            <a:off x="400050" y="4343400"/>
            <a:ext cx="113919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0EABA0-BA91-4BCF-8508-890571EBF960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探索性分支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6F8385-AC64-4472-AB88-588E321EFB14}"/>
              </a:ext>
            </a:extLst>
          </p:cNvPr>
          <p:cNvSpPr>
            <a:spLocks noGrp="1"/>
          </p:cNvSpPr>
          <p:nvPr/>
        </p:nvSpPr>
        <p:spPr>
          <a:xfrm>
            <a:off x="2514600" y="4591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8677"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WBE 小波边界增强 | DINOv3 荧光 MAE 两阶段训练 | SAM2 Hiera-Small + MAE | ViT + SAM2 FPN 深度监督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E6E72F-4D61-4C57-9052-AF27832AC45B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Sources: src/bs/paper_unet.py, src/bs/model.py, src/bs/convnext_seg.py, src/bs/dinov3_mae.py, src/bs/sam2_model.py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7C5114-4DFA-4829-AA7E-9694A3C05EA5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4656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D21C4-694F-40B1-99FB-49AA1C5A667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Experiments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540AC4-F631-4EC5-A628-471F239C759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81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6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实验矩阵覆盖 baseline 与多条创新尝试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9FAF96-AAF5-4EC2-92E8-1CBF1867DF92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1391900" cy="4191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577711-3892-4BDA-8CDE-AC368239E94E}"/>
              </a:ext>
            </a:extLst>
          </p:cNvPr>
          <p:cNvSpPr>
            <a:spLocks noGrp="1"/>
          </p:cNvSpPr>
          <p:nvPr/>
        </p:nvSpPr>
        <p:spPr>
          <a:xfrm>
            <a:off x="590550" y="15430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4E6568-5833-4F4B-9A67-8FB2E06226F8}"/>
              </a:ext>
            </a:extLst>
          </p:cNvPr>
          <p:cNvSpPr>
            <a:spLocks noGrp="1"/>
          </p:cNvSpPr>
          <p:nvPr/>
        </p:nvSpPr>
        <p:spPr>
          <a:xfrm>
            <a:off x="3333750" y="1543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核心改动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FD2447-6B5D-41F9-97E5-DB504676516B}"/>
              </a:ext>
            </a:extLst>
          </p:cNvPr>
          <p:cNvSpPr>
            <a:spLocks noGrp="1"/>
          </p:cNvSpPr>
          <p:nvPr/>
        </p:nvSpPr>
        <p:spPr>
          <a:xfrm>
            <a:off x="7639050" y="15430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Macro Dice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461E5B-4392-4324-AB74-9C831C50093C}"/>
              </a:ext>
            </a:extLst>
          </p:cNvPr>
          <p:cNvSpPr>
            <a:spLocks noGrp="1"/>
          </p:cNvSpPr>
          <p:nvPr/>
        </p:nvSpPr>
        <p:spPr>
          <a:xfrm>
            <a:off x="9124950" y="15430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198BD0-466C-4E18-9C0E-29A4A054A4E4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11391900" cy="514350"/>
          </a:xfrm>
          <a:prstGeom prst="rect">
            <a:avLst/>
          </a:prstGeom>
          <a:solidFill>
            <a:srgbClr val="FFF0EA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348AAE-198B-4436-89EB-5D33DC2005B7}"/>
              </a:ext>
            </a:extLst>
          </p:cNvPr>
          <p:cNvSpPr>
            <a:spLocks noGrp="1"/>
          </p:cNvSpPr>
          <p:nvPr/>
        </p:nvSpPr>
        <p:spPr>
          <a:xfrm>
            <a:off x="590550" y="20669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DINOv3 ConvNeXt-Tiny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6F0CBA-3943-45F5-A11E-8D8680FE5F6A}"/>
              </a:ext>
            </a:extLst>
          </p:cNvPr>
          <p:cNvSpPr>
            <a:spLocks noGrp="1"/>
          </p:cNvSpPr>
          <p:nvPr/>
        </p:nvSpPr>
        <p:spPr>
          <a:xfrm>
            <a:off x="3333750" y="20478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层级 CNN backbone + FPN decoder；记录为 4/5 折均值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4F3501-E507-4616-A32C-0A423DEAF145}"/>
              </a:ext>
            </a:extLst>
          </p:cNvPr>
          <p:cNvSpPr>
            <a:spLocks noGrp="1"/>
          </p:cNvSpPr>
          <p:nvPr/>
        </p:nvSpPr>
        <p:spPr>
          <a:xfrm>
            <a:off x="7696200" y="203835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0.7710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5604F0-51CF-483B-8AF0-93FB5A283849}"/>
              </a:ext>
            </a:extLst>
          </p:cNvPr>
          <p:cNvSpPr>
            <a:spLocks noGrp="1"/>
          </p:cNvSpPr>
          <p:nvPr/>
        </p:nvSpPr>
        <p:spPr>
          <a:xfrm>
            <a:off x="9124950" y="204787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当前最高均值记录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7D5BD4-B465-4B57-B11D-8BF93B017894}"/>
              </a:ext>
            </a:extLst>
          </p:cNvPr>
          <p:cNvSpPr>
            <a:spLocks noGrp="1"/>
          </p:cNvSpPr>
          <p:nvPr/>
        </p:nvSpPr>
        <p:spPr>
          <a:xfrm>
            <a:off x="400050" y="255270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97B3F4-9CF8-40F2-9523-57CFE7283919}"/>
              </a:ext>
            </a:extLst>
          </p:cNvPr>
          <p:cNvSpPr>
            <a:spLocks noGrp="1"/>
          </p:cNvSpPr>
          <p:nvPr/>
        </p:nvSpPr>
        <p:spPr>
          <a:xfrm>
            <a:off x="590550" y="26574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DINOv3 ViT-B/16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E23556-DD98-4A7E-AE41-12A4304667B8}"/>
              </a:ext>
            </a:extLst>
          </p:cNvPr>
          <p:cNvSpPr>
            <a:spLocks noGrp="1"/>
          </p:cNvSpPr>
          <p:nvPr/>
        </p:nvSpPr>
        <p:spPr>
          <a:xfrm>
            <a:off x="3333750" y="26384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TokenFPNHead baseline；layers [2,5,8,11] 聚合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46F84EF-BB1E-4D33-8619-2A3F851B0094}"/>
              </a:ext>
            </a:extLst>
          </p:cNvPr>
          <p:cNvSpPr>
            <a:spLocks noGrp="1"/>
          </p:cNvSpPr>
          <p:nvPr/>
        </p:nvSpPr>
        <p:spPr>
          <a:xfrm>
            <a:off x="7696200" y="26289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0.7337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D3A901-7F27-45E2-A397-BC958CE5EF11}"/>
              </a:ext>
            </a:extLst>
          </p:cNvPr>
          <p:cNvSpPr>
            <a:spLocks noGrp="1"/>
          </p:cNvSpPr>
          <p:nvPr/>
        </p:nvSpPr>
        <p:spPr>
          <a:xfrm>
            <a:off x="9124950" y="26384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ViT 单折强 baseline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FAC413-132E-4631-AD19-918474AFBCAD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5E9F92-95A9-40E7-94C3-0E71F387C7F7}"/>
              </a:ext>
            </a:extLst>
          </p:cNvPr>
          <p:cNvSpPr>
            <a:spLocks noGrp="1"/>
          </p:cNvSpPr>
          <p:nvPr/>
        </p:nvSpPr>
        <p:spPr>
          <a:xfrm>
            <a:off x="590550" y="32480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ViT + WBE v1/v2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326CA6-6D22-4698-A4A9-856C086090C1}"/>
              </a:ext>
            </a:extLst>
          </p:cNvPr>
          <p:cNvSpPr>
            <a:spLocks noGrp="1"/>
          </p:cNvSpPr>
          <p:nvPr/>
        </p:nvSpPr>
        <p:spPr>
          <a:xfrm>
            <a:off x="3333750" y="32289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小波高频边界增强；v2 加入 SNR 边缘先验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2A24D7-FF10-454A-B3F6-945B0DE900EB}"/>
              </a:ext>
            </a:extLst>
          </p:cNvPr>
          <p:cNvSpPr>
            <a:spLocks noGrp="1"/>
          </p:cNvSpPr>
          <p:nvPr/>
        </p:nvSpPr>
        <p:spPr>
          <a:xfrm>
            <a:off x="7696200" y="321945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74298" lnSpcReduction="20000"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0.7248 / 0.7253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DB23A24-8341-4CA1-A69D-32AD3CD19958}"/>
              </a:ext>
            </a:extLst>
          </p:cNvPr>
          <p:cNvSpPr>
            <a:spLocks noGrp="1"/>
          </p:cNvSpPr>
          <p:nvPr/>
        </p:nvSpPr>
        <p:spPr>
          <a:xfrm>
            <a:off x="9124950" y="322897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未超过 baseline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D5E096-3A51-4D4E-8C0C-5DBF76F7CAB0}"/>
              </a:ext>
            </a:extLst>
          </p:cNvPr>
          <p:cNvSpPr>
            <a:spLocks noGrp="1"/>
          </p:cNvSpPr>
          <p:nvPr/>
        </p:nvSpPr>
        <p:spPr>
          <a:xfrm>
            <a:off x="400050" y="373380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C7692F-B233-4B02-A342-002327C13900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ViT + SAM2 FPN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700DD8-60B9-4553-B532-73B6A38FF208}"/>
              </a:ext>
            </a:extLst>
          </p:cNvPr>
          <p:cNvSpPr>
            <a:spLocks noGrp="1"/>
          </p:cNvSpPr>
          <p:nvPr/>
        </p:nvSpPr>
        <p:spPr>
          <a:xfrm>
            <a:off x="3333750" y="38195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虚拟金字塔 + top-down 融合 + 深度监督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65DFF6-63ED-4A7F-8327-BFBC104BAC99}"/>
              </a:ext>
            </a:extLst>
          </p:cNvPr>
          <p:cNvSpPr>
            <a:spLocks noGrp="1"/>
          </p:cNvSpPr>
          <p:nvPr/>
        </p:nvSpPr>
        <p:spPr>
          <a:xfrm>
            <a:off x="7696200" y="38100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0.6939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1939FEA-5B2C-47E7-9330-9640AA51BACE}"/>
              </a:ext>
            </a:extLst>
          </p:cNvPr>
          <p:cNvSpPr>
            <a:spLocks noGrp="1"/>
          </p:cNvSpPr>
          <p:nvPr/>
        </p:nvSpPr>
        <p:spPr>
          <a:xfrm>
            <a:off x="9124950" y="38195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同分辨率 ViT 不适合硬套 FPN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373066-200B-4288-963C-6C68D17B124E}"/>
              </a:ext>
            </a:extLst>
          </p:cNvPr>
          <p:cNvSpPr>
            <a:spLocks noGrp="1"/>
          </p:cNvSpPr>
          <p:nvPr/>
        </p:nvSpPr>
        <p:spPr>
          <a:xfrm>
            <a:off x="400050" y="432435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B3B60B8-82ED-4312-98E0-CA6D480AA597}"/>
              </a:ext>
            </a:extLst>
          </p:cNvPr>
          <p:cNvSpPr>
            <a:spLocks noGrp="1"/>
          </p:cNvSpPr>
          <p:nvPr/>
        </p:nvSpPr>
        <p:spPr>
          <a:xfrm>
            <a:off x="590550" y="44291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ViT + 荧光 MAE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3904B7-18B6-4E53-A3A3-AD03AD8A70E7}"/>
              </a:ext>
            </a:extLst>
          </p:cNvPr>
          <p:cNvSpPr>
            <a:spLocks noGrp="1"/>
          </p:cNvSpPr>
          <p:nvPr/>
        </p:nvSpPr>
        <p:spPr>
          <a:xfrm>
            <a:off x="3333750" y="44100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亮度加权 mask 的两阶段 MAE 预训练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3B8978-245D-43AD-B0BD-7B7409FA9845}"/>
              </a:ext>
            </a:extLst>
          </p:cNvPr>
          <p:cNvSpPr>
            <a:spLocks noGrp="1"/>
          </p:cNvSpPr>
          <p:nvPr/>
        </p:nvSpPr>
        <p:spPr>
          <a:xfrm>
            <a:off x="7696200" y="440055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0.6818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F7EB61A-0F18-4D3F-8064-2F2089AC7228}"/>
              </a:ext>
            </a:extLst>
          </p:cNvPr>
          <p:cNvSpPr>
            <a:spLocks noGrp="1"/>
          </p:cNvSpPr>
          <p:nvPr/>
        </p:nvSpPr>
        <p:spPr>
          <a:xfrm>
            <a:off x="9124950" y="441007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backbone 漂移，收益为负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741E4A2-0522-4111-8752-2850EAC84A36}"/>
              </a:ext>
            </a:extLst>
          </p:cNvPr>
          <p:cNvSpPr>
            <a:spLocks noGrp="1"/>
          </p:cNvSpPr>
          <p:nvPr/>
        </p:nvSpPr>
        <p:spPr>
          <a:xfrm>
            <a:off x="400050" y="4914900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EB0D2D-F317-4E03-920F-73182EE0D28E}"/>
              </a:ext>
            </a:extLst>
          </p:cNvPr>
          <p:cNvSpPr>
            <a:spLocks noGrp="1"/>
          </p:cNvSpPr>
          <p:nvPr/>
        </p:nvSpPr>
        <p:spPr>
          <a:xfrm>
            <a:off x="590550" y="50196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MAE-SAM2 / </a:t>
            </a:r>
            <a:r>
              <a:rPr sz="1350" b="0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PaperUNet</a:t>
            </a:r>
            <a:endParaRPr sz="1350" b="0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62CD1D3-D5A0-417B-9127-3362739EBDD4}"/>
              </a:ext>
            </a:extLst>
          </p:cNvPr>
          <p:cNvSpPr>
            <a:spLocks noGrp="1"/>
          </p:cNvSpPr>
          <p:nvPr/>
        </p:nvSpPr>
        <p:spPr>
          <a:xfrm>
            <a:off x="3333750" y="50006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3397"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SAM2 Hiera-Small 微调为 0.6236；PaperUNet 已实现但日志未记录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C0F06BC-8BDE-4750-8B4B-7E8CB9D15AD1}"/>
              </a:ext>
            </a:extLst>
          </p:cNvPr>
          <p:cNvSpPr>
            <a:spLocks noGrp="1"/>
          </p:cNvSpPr>
          <p:nvPr/>
        </p:nvSpPr>
        <p:spPr>
          <a:xfrm>
            <a:off x="7696200" y="499110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861"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0.6236 / n.a.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FA0E09-E7DD-44CB-9F17-996BCF5FF733}"/>
              </a:ext>
            </a:extLst>
          </p:cNvPr>
          <p:cNvSpPr>
            <a:spLocks noGrp="1"/>
          </p:cNvSpPr>
          <p:nvPr/>
        </p:nvSpPr>
        <p:spPr>
          <a:xfrm>
            <a:off x="9124950" y="5000625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对比基线与论文复现框架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2923FA3-0EA3-4C5F-A2A5-029ACD1D7ED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Source: EXPERIMENT_LOG.md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AA0F737-6D66-4D04-AAA0-C3BCB4DA1698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4132428-52A1-6E06-8AB2-70358B1869E6}"/>
              </a:ext>
            </a:extLst>
          </p:cNvPr>
          <p:cNvSpPr>
            <a:spLocks noGrp="1"/>
          </p:cNvSpPr>
          <p:nvPr/>
        </p:nvSpPr>
        <p:spPr>
          <a:xfrm>
            <a:off x="400050" y="5534025"/>
            <a:ext cx="113919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D99783-5E86-D5BE-A8A3-629154A3D7AC}"/>
              </a:ext>
            </a:extLst>
          </p:cNvPr>
          <p:cNvSpPr>
            <a:spLocks noGrp="1"/>
          </p:cNvSpPr>
          <p:nvPr/>
        </p:nvSpPr>
        <p:spPr>
          <a:xfrm>
            <a:off x="542925" y="56483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50" b="0" dirty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靳雨：</a:t>
            </a:r>
            <a:r>
              <a:rPr lang="en-US" altLang="zh-CN" sz="1350" b="0" dirty="0" err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UNet</a:t>
            </a:r>
            <a:endParaRPr sz="1350" b="0" dirty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31FFCED-F9D2-049E-CF51-E05E07711F31}"/>
              </a:ext>
            </a:extLst>
          </p:cNvPr>
          <p:cNvSpPr>
            <a:spLocks noGrp="1"/>
          </p:cNvSpPr>
          <p:nvPr/>
        </p:nvSpPr>
        <p:spPr>
          <a:xfrm>
            <a:off x="7705725" y="565785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50" b="1" dirty="0">
                <a:solidFill>
                  <a:srgbClr val="0070C0"/>
                </a:solidFill>
                <a:latin typeface="PingFang SC"/>
                <a:ea typeface="PingFang SC"/>
                <a:cs typeface="PingFang SC"/>
              </a:rPr>
              <a:t>0.7257</a:t>
            </a:r>
            <a:endParaRPr sz="1650" b="1" dirty="0">
              <a:solidFill>
                <a:srgbClr val="0070C0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01237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FB80FF4C-A2D5-4481-8501-2798815F515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Analysis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1CBE33-6473-4008-8806-A0783444343E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81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96000"/>
              </a:lnSpc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负结果给出的技术判断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46C05F-43B4-4879-BCBE-C84C96DA3742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5334000" cy="1600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00B055-1A0D-4796-B3AB-0E0E97B376EC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WBE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3F1BA-1492-462E-9FB1-D3054DD90DF9}"/>
              </a:ext>
            </a:extLst>
          </p:cNvPr>
          <p:cNvSpPr>
            <a:spLocks noGrp="1"/>
          </p:cNvSpPr>
          <p:nvPr/>
        </p:nvSpPr>
        <p:spPr>
          <a:xfrm>
            <a:off x="2057400" y="19050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7000"/>
              </a:lnSpc>
              <a:buNone/>
              <a:def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边界增强直觉成立，但小波/注意力模块引入额外参数；在当前小数据集上没有转化为 Dice 提升。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AC87B2-8953-4C0F-B26E-339A46D5BE09}"/>
              </a:ext>
            </a:extLst>
          </p:cNvPr>
          <p:cNvSpPr>
            <a:spLocks noGrp="1"/>
          </p:cNvSpPr>
          <p:nvPr/>
        </p:nvSpPr>
        <p:spPr>
          <a:xfrm>
            <a:off x="6457950" y="1638300"/>
            <a:ext cx="5334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B43896-2192-4E49-8BFE-AA82602B9EC3}"/>
              </a:ext>
            </a:extLst>
          </p:cNvPr>
          <p:cNvSpPr>
            <a:spLocks noGrp="1"/>
          </p:cNvSpPr>
          <p:nvPr/>
        </p:nvSpPr>
        <p:spPr>
          <a:xfrm>
            <a:off x="6724650" y="19050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8755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荧光 MAE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366408-F9D9-4301-A4C1-47DA680B2A5B}"/>
              </a:ext>
            </a:extLst>
          </p:cNvPr>
          <p:cNvSpPr>
            <a:spLocks noGrp="1"/>
          </p:cNvSpPr>
          <p:nvPr/>
        </p:nvSpPr>
        <p:spPr>
          <a:xfrm>
            <a:off x="8115300" y="19050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7000"/>
              </a:lnSpc>
              <a:buNone/>
              <a:def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亮度先验有任务意义，但 feature-level 重建与分割目标不完全对齐，且全解冻造成 backbone 漂移。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2E02F2-CAE0-46D8-9AF2-7E7F3224F4CC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5334000" cy="1600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EB51B4-BCD0-4267-AF90-9125793A7F74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137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SAM2 FPN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A25E1E-18E3-44A4-9B96-2D8094D8C7BB}"/>
              </a:ext>
            </a:extLst>
          </p:cNvPr>
          <p:cNvSpPr>
            <a:spLocks noGrp="1"/>
          </p:cNvSpPr>
          <p:nvPr/>
        </p:nvSpPr>
        <p:spPr>
          <a:xfrm>
            <a:off x="2057400" y="39624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7000"/>
              </a:lnSpc>
              <a:buNone/>
              <a:def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FPN 依赖真实层级特征；ViT 各层同分辨率，虚拟下采样会损失边界细节。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9AFC00-0B52-4420-898E-209F4CFF09FD}"/>
              </a:ext>
            </a:extLst>
          </p:cNvPr>
          <p:cNvSpPr>
            <a:spLocks noGrp="1"/>
          </p:cNvSpPr>
          <p:nvPr/>
        </p:nvSpPr>
        <p:spPr>
          <a:xfrm>
            <a:off x="6457950" y="3695700"/>
            <a:ext cx="53340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3FE364-9536-468C-B69C-AFC493B68255}"/>
              </a:ext>
            </a:extLst>
          </p:cNvPr>
          <p:cNvSpPr>
            <a:spLocks noGrp="1"/>
          </p:cNvSpPr>
          <p:nvPr/>
        </p:nvSpPr>
        <p:spPr>
          <a:xfrm>
            <a:off x="6724650" y="39624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rPr>
              <a:t>SAM2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A7D124-D571-4888-84FB-9F600FF0E1BE}"/>
              </a:ext>
            </a:extLst>
          </p:cNvPr>
          <p:cNvSpPr>
            <a:spLocks noGrp="1"/>
          </p:cNvSpPr>
          <p:nvPr/>
        </p:nvSpPr>
        <p:spPr>
          <a:xfrm>
            <a:off x="8115300" y="39624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17000"/>
              </a:lnSpc>
              <a:buNone/>
              <a:def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SAM2 的通用分割能力不能直接保证 FA 泄漏迁移，仍弱于 DINOv3 视觉表征。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FFCBF2-854A-495C-BEA8-6B835F77E9FC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Source: EXPERIMENT_LOG.md failure analyses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811E50-EEF3-45E4-B293-3FDBB915ADAC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84391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338</Words>
  <Application>Microsoft Macintosh PowerPoint</Application>
  <DocSecurity>0</DocSecurity>
  <PresentationFormat>宽屏</PresentationFormat>
  <Paragraphs>71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Ziheng Tao</cp:lastModifiedBy>
  <cp:revision>2</cp:revision>
  <dcterms:created xsi:type="dcterms:W3CDTF">2026-06-28T12:57:19Z</dcterms:created>
  <dcterms:modified xsi:type="dcterms:W3CDTF">2026-06-28T16:44:14Z</dcterms:modified>
</cp:coreProperties>
</file>